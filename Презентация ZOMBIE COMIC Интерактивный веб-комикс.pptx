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0" r:id="rId4"/>
    <p:sldId id="267" r:id="rId5"/>
    <p:sldId id="268" r:id="rId6"/>
    <p:sldId id="259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69" autoAdjust="0"/>
    <p:restoredTop sz="94660"/>
  </p:normalViewPr>
  <p:slideViewPr>
    <p:cSldViewPr snapToGrid="0">
      <p:cViewPr varScale="1">
        <p:scale>
          <a:sx n="86" d="100"/>
          <a:sy n="86" d="100"/>
        </p:scale>
        <p:origin x="2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6935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16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36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357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788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44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337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820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793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4852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636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252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969535-A1B2-4C7D-BC61-5AB167FC6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1668"/>
            <a:ext cx="9144000" cy="2865864"/>
          </a:xfrm>
        </p:spPr>
        <p:txBody>
          <a:bodyPr>
            <a:noAutofit/>
          </a:bodyPr>
          <a:lstStyle/>
          <a:p>
            <a:r>
              <a:rPr lang="en-US" sz="7200" b="1" i="0" dirty="0">
                <a:effectLst/>
                <a:latin typeface="-apple-system"/>
              </a:rPr>
              <a:t>ZOMBIE COMIC </a:t>
            </a:r>
            <a:r>
              <a:rPr lang="ru-RU" sz="6600" b="1" i="0" dirty="0">
                <a:effectLst/>
                <a:latin typeface="-apple-system"/>
              </a:rPr>
              <a:t>Интерактивный веб-комикс</a:t>
            </a:r>
            <a:endParaRPr lang="ru-RU" sz="66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C67BA9-5DA8-46A4-B5F5-5373623CE4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03649"/>
            <a:ext cx="9144000" cy="1862252"/>
          </a:xfrm>
        </p:spPr>
        <p:txBody>
          <a:bodyPr>
            <a:noAutofit/>
          </a:bodyPr>
          <a:lstStyle/>
          <a:p>
            <a:r>
              <a:rPr lang="ru-RU" sz="3200" b="1" i="0" dirty="0">
                <a:solidFill>
                  <a:srgbClr val="FF0000"/>
                </a:solidFill>
                <a:effectLst/>
                <a:latin typeface="-apple-system"/>
              </a:rPr>
              <a:t>Адаптация комикс-игры Джона </a:t>
            </a:r>
            <a:r>
              <a:rPr lang="ru-RU" sz="3200" b="1" i="0" dirty="0" err="1">
                <a:solidFill>
                  <a:srgbClr val="FF0000"/>
                </a:solidFill>
                <a:effectLst/>
                <a:latin typeface="-apple-system"/>
              </a:rPr>
              <a:t>Ланкрая</a:t>
            </a:r>
            <a:r>
              <a:rPr lang="ru-RU" sz="3200" b="1" i="0" dirty="0">
                <a:solidFill>
                  <a:srgbClr val="FF0000"/>
                </a:solidFill>
                <a:effectLst/>
                <a:latin typeface="-apple-system"/>
              </a:rPr>
              <a:t> с ветвящимся сюжетом</a:t>
            </a:r>
            <a:endParaRPr lang="en-US" sz="3200" b="1" i="0" dirty="0">
              <a:solidFill>
                <a:srgbClr val="FF0000"/>
              </a:solidFill>
              <a:effectLst/>
              <a:latin typeface="-apple-system"/>
            </a:endParaRPr>
          </a:p>
          <a:p>
            <a:endParaRPr lang="en-US" sz="3200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517474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EAFAD46C-A035-4FD9-B790-6813A7AA72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8470858"/>
              </p:ext>
            </p:extLst>
          </p:nvPr>
        </p:nvGraphicFramePr>
        <p:xfrm>
          <a:off x="858645" y="512956"/>
          <a:ext cx="10496744" cy="6174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7940">
                  <a:extLst>
                    <a:ext uri="{9D8B030D-6E8A-4147-A177-3AD203B41FA5}">
                      <a16:colId xmlns:a16="http://schemas.microsoft.com/office/drawing/2014/main" val="1623992573"/>
                    </a:ext>
                  </a:extLst>
                </a:gridCol>
                <a:gridCol w="5278804">
                  <a:extLst>
                    <a:ext uri="{9D8B030D-6E8A-4147-A177-3AD203B41FA5}">
                      <a16:colId xmlns:a16="http://schemas.microsoft.com/office/drawing/2014/main" val="3927294734"/>
                    </a:ext>
                  </a:extLst>
                </a:gridCol>
              </a:tblGrid>
              <a:tr h="1590336">
                <a:tc>
                  <a:txBody>
                    <a:bodyPr/>
                    <a:lstStyle/>
                    <a:p>
                      <a:pPr algn="ctr" fontAlgn="t"/>
                      <a:r>
                        <a:rPr lang="ru-RU" sz="6600" b="1" dirty="0">
                          <a:solidFill>
                            <a:schemeClr val="tx1"/>
                          </a:solidFill>
                          <a:effectLst/>
                          <a:latin typeface="inherit"/>
                        </a:rPr>
                        <a:t>Проблема</a:t>
                      </a:r>
                    </a:p>
                  </a:txBody>
                  <a:tcPr marL="95250" marR="95250" marT="95250" marB="9525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6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Решение</a:t>
                      </a:r>
                      <a:endParaRPr lang="ru-RU" sz="6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738955"/>
                  </a:ext>
                </a:extLst>
              </a:tr>
              <a:tr h="1910116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Книжная версия неудобна для чтения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Веб-приложение с интерактивным интерфейсом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957730"/>
                  </a:ext>
                </a:extLst>
              </a:tr>
              <a:tr h="1337082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Линейный сюжет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Ветвящийся сюжет с выбором действий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4610986"/>
                  </a:ext>
                </a:extLst>
              </a:tr>
              <a:tr h="1337082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Статичный контент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Динамические панели с кнопками перехода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721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715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548557-EE15-4F5F-BF52-73AAD83D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9864"/>
            <a:ext cx="10515600" cy="1182029"/>
          </a:xfrm>
        </p:spPr>
        <p:txBody>
          <a:bodyPr>
            <a:noAutofit/>
          </a:bodyPr>
          <a:lstStyle/>
          <a:p>
            <a:pPr algn="ctr"/>
            <a:r>
              <a:rPr lang="ru-RU" sz="8800" b="1" dirty="0"/>
              <a:t>Технологический стек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D88E57-CAEB-47D1-B77F-F43AB66A2D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810107"/>
            <a:ext cx="10515600" cy="3279543"/>
          </a:xfrm>
        </p:spPr>
        <p:txBody>
          <a:bodyPr>
            <a:normAutofit lnSpcReduction="10000"/>
          </a:bodyPr>
          <a:lstStyle/>
          <a:p>
            <a:r>
              <a:rPr lang="ru-RU" sz="4400" i="0" dirty="0" err="1">
                <a:effectLst/>
                <a:latin typeface="inherit"/>
              </a:rPr>
              <a:t>Фронтенд</a:t>
            </a:r>
            <a:r>
              <a:rPr lang="ru-RU" sz="4400" i="0" dirty="0">
                <a:effectLst/>
                <a:latin typeface="inherit"/>
              </a:rPr>
              <a:t>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inherit"/>
              </a:rPr>
              <a:t>HTML, CSS, JavaScript</a:t>
            </a:r>
            <a:r>
              <a:rPr lang="ru-RU" sz="4400" b="1" dirty="0">
                <a:solidFill>
                  <a:srgbClr val="FF0000"/>
                </a:solidFill>
                <a:latin typeface="inherit"/>
              </a:rPr>
              <a:t>.</a:t>
            </a:r>
            <a:endParaRPr lang="en-US" sz="4400" b="1" i="0" dirty="0">
              <a:solidFill>
                <a:srgbClr val="FF0000"/>
              </a:solidFill>
              <a:effectLst/>
              <a:latin typeface="inherit"/>
            </a:endParaRPr>
          </a:p>
          <a:p>
            <a:r>
              <a:rPr lang="ru-RU" sz="4400" i="0" dirty="0">
                <a:effectLst/>
                <a:latin typeface="-apple-system"/>
              </a:rPr>
              <a:t>Бэкенд: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-apple-system"/>
              </a:rPr>
              <a:t>Python, Django</a:t>
            </a:r>
            <a:r>
              <a:rPr lang="ru-RU" sz="4400" b="1" i="0" dirty="0">
                <a:solidFill>
                  <a:srgbClr val="FF0000"/>
                </a:solidFill>
                <a:effectLst/>
                <a:latin typeface="-apple-system"/>
              </a:rPr>
              <a:t>.</a:t>
            </a:r>
          </a:p>
          <a:p>
            <a:r>
              <a:rPr lang="ru-RU" sz="4400" i="0" dirty="0">
                <a:effectLst/>
                <a:latin typeface="inherit"/>
              </a:rPr>
              <a:t>База данных: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inherit"/>
              </a:rPr>
              <a:t>PostgreSQL</a:t>
            </a:r>
            <a:r>
              <a:rPr lang="ru-RU" sz="4400" b="1" i="0" dirty="0">
                <a:solidFill>
                  <a:srgbClr val="FF0000"/>
                </a:solidFill>
                <a:effectLst/>
                <a:latin typeface="inherit"/>
              </a:rPr>
              <a:t>.</a:t>
            </a:r>
          </a:p>
          <a:p>
            <a:r>
              <a:rPr lang="ru-RU" sz="4400" i="0" dirty="0">
                <a:effectLst/>
                <a:latin typeface="inherit"/>
              </a:rPr>
              <a:t>Медиа</a:t>
            </a:r>
            <a:r>
              <a:rPr lang="en-US" sz="4400" i="0" dirty="0">
                <a:effectLst/>
                <a:latin typeface="inherit"/>
              </a:rPr>
              <a:t>: </a:t>
            </a:r>
            <a:r>
              <a:rPr lang="en-US" sz="4400" i="0" dirty="0">
                <a:solidFill>
                  <a:srgbClr val="FF0000"/>
                </a:solidFill>
                <a:effectLst/>
                <a:latin typeface="-apple-system"/>
              </a:rPr>
              <a:t>media/panels/</a:t>
            </a:r>
            <a:r>
              <a:rPr lang="ru-RU" sz="4400" i="0" dirty="0">
                <a:solidFill>
                  <a:srgbClr val="FF0000"/>
                </a:solidFill>
                <a:effectLst/>
                <a:latin typeface="-apple-system"/>
              </a:rPr>
              <a:t> </a:t>
            </a:r>
            <a:r>
              <a:rPr lang="ru-RU" sz="4400" i="0" dirty="0">
                <a:effectLst/>
                <a:latin typeface="-apple-system"/>
              </a:rPr>
              <a:t>— хранилище изображений комикса.</a:t>
            </a:r>
            <a:endParaRPr lang="en-US" sz="4400" i="0" dirty="0">
              <a:effectLst/>
              <a:latin typeface="inherit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8016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5C36AAF7-D3C2-4BBA-A5BE-24FD4F50853A}"/>
              </a:ext>
            </a:extLst>
          </p:cNvPr>
          <p:cNvSpPr/>
          <p:nvPr/>
        </p:nvSpPr>
        <p:spPr>
          <a:xfrm>
            <a:off x="4304371" y="956582"/>
            <a:ext cx="2821257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Стартовая страница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7E7B5B3-A564-41F2-9881-E52D93755C46}"/>
              </a:ext>
            </a:extLst>
          </p:cNvPr>
          <p:cNvSpPr/>
          <p:nvPr/>
        </p:nvSpPr>
        <p:spPr>
          <a:xfrm>
            <a:off x="4315523" y="1927180"/>
            <a:ext cx="2821256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Панель комикса</a:t>
            </a:r>
            <a:r>
              <a:rPr lang="en-US" b="1" dirty="0"/>
              <a:t> #1</a:t>
            </a:r>
            <a:endParaRPr lang="ru-RU" b="1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AA794CB3-6285-4299-B646-574D7B100FC6}"/>
              </a:ext>
            </a:extLst>
          </p:cNvPr>
          <p:cNvSpPr/>
          <p:nvPr/>
        </p:nvSpPr>
        <p:spPr>
          <a:xfrm>
            <a:off x="925552" y="2816352"/>
            <a:ext cx="3111190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Выбор А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2B2514D-9FA0-4154-91B1-FD087A0C02E3}"/>
              </a:ext>
            </a:extLst>
          </p:cNvPr>
          <p:cNvSpPr/>
          <p:nvPr/>
        </p:nvSpPr>
        <p:spPr>
          <a:xfrm>
            <a:off x="7535436" y="2784101"/>
            <a:ext cx="2902105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Выбор Б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69FA76C-1CCD-4516-ACD8-D19931AF25E9}"/>
              </a:ext>
            </a:extLst>
          </p:cNvPr>
          <p:cNvSpPr/>
          <p:nvPr/>
        </p:nvSpPr>
        <p:spPr>
          <a:xfrm>
            <a:off x="943207" y="3945108"/>
            <a:ext cx="3111190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Панель комикса</a:t>
            </a:r>
            <a:r>
              <a:rPr lang="en-US" b="1" dirty="0"/>
              <a:t> #2</a:t>
            </a:r>
            <a:endParaRPr lang="ru-RU" b="1" dirty="0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7EC0516B-CA11-41BC-82D0-C6804124333E}"/>
              </a:ext>
            </a:extLst>
          </p:cNvPr>
          <p:cNvSpPr/>
          <p:nvPr/>
        </p:nvSpPr>
        <p:spPr>
          <a:xfrm>
            <a:off x="7548445" y="3912856"/>
            <a:ext cx="2902105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Панель комикса</a:t>
            </a:r>
            <a:r>
              <a:rPr lang="en-US" b="1" dirty="0"/>
              <a:t> #3</a:t>
            </a:r>
            <a:endParaRPr lang="ru-RU" b="1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9E5BBCD-AC1B-4E8B-BF32-C1A4F1A5A245}"/>
              </a:ext>
            </a:extLst>
          </p:cNvPr>
          <p:cNvSpPr/>
          <p:nvPr/>
        </p:nvSpPr>
        <p:spPr>
          <a:xfrm>
            <a:off x="1025913" y="5073864"/>
            <a:ext cx="3028484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Выбор </a:t>
            </a:r>
            <a:r>
              <a:rPr lang="en-US" b="1" dirty="0"/>
              <a:t>C</a:t>
            </a:r>
            <a:r>
              <a:rPr lang="ru-RU" b="1" dirty="0"/>
              <a:t> - Концовка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3D96157-3E43-4236-A0FF-303C2AEE105B}"/>
              </a:ext>
            </a:extLst>
          </p:cNvPr>
          <p:cNvSpPr/>
          <p:nvPr/>
        </p:nvSpPr>
        <p:spPr>
          <a:xfrm>
            <a:off x="7535435" y="5041611"/>
            <a:ext cx="2915115" cy="612648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Выбор </a:t>
            </a:r>
            <a:r>
              <a:rPr lang="en-US" b="1" dirty="0"/>
              <a:t>D</a:t>
            </a:r>
            <a:r>
              <a:rPr lang="ru-RU" b="1" dirty="0"/>
              <a:t> - Концовка</a:t>
            </a:r>
          </a:p>
        </p:txBody>
      </p:sp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3C1CBFF2-34B0-464A-9EE6-7CF36D11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61" y="223024"/>
            <a:ext cx="10789889" cy="75754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Пользовательский путь</a:t>
            </a:r>
          </a:p>
        </p:txBody>
      </p:sp>
      <p:sp>
        <p:nvSpPr>
          <p:cNvPr id="30" name="Текст 29">
            <a:extLst>
              <a:ext uri="{FF2B5EF4-FFF2-40B4-BE49-F238E27FC236}">
                <a16:creationId xmlns:a16="http://schemas.microsoft.com/office/drawing/2014/main" id="{B8202EAE-DA24-4677-B593-7E3D94B86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97873" y="6022328"/>
            <a:ext cx="8849576" cy="612648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Каждый выбор ведёт к уникальной ветке сюжета!</a:t>
            </a:r>
          </a:p>
        </p:txBody>
      </p:sp>
      <p:sp>
        <p:nvSpPr>
          <p:cNvPr id="11" name="Стрелка: вниз 10">
            <a:extLst>
              <a:ext uri="{FF2B5EF4-FFF2-40B4-BE49-F238E27FC236}">
                <a16:creationId xmlns:a16="http://schemas.microsoft.com/office/drawing/2014/main" id="{2FD66877-9CD4-48AC-9784-907D5EEAA8D6}"/>
              </a:ext>
            </a:extLst>
          </p:cNvPr>
          <p:cNvSpPr/>
          <p:nvPr/>
        </p:nvSpPr>
        <p:spPr>
          <a:xfrm>
            <a:off x="5564459" y="1569230"/>
            <a:ext cx="312234" cy="357950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изогнутая вверх 18">
            <a:extLst>
              <a:ext uri="{FF2B5EF4-FFF2-40B4-BE49-F238E27FC236}">
                <a16:creationId xmlns:a16="http://schemas.microsoft.com/office/drawing/2014/main" id="{E4BE925D-B8CB-4959-880B-ABCE7CC7FE35}"/>
              </a:ext>
            </a:extLst>
          </p:cNvPr>
          <p:cNvSpPr/>
          <p:nvPr/>
        </p:nvSpPr>
        <p:spPr>
          <a:xfrm rot="10800000">
            <a:off x="2364059" y="2141031"/>
            <a:ext cx="1940312" cy="675320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: изогнутая вверх 21">
            <a:extLst>
              <a:ext uri="{FF2B5EF4-FFF2-40B4-BE49-F238E27FC236}">
                <a16:creationId xmlns:a16="http://schemas.microsoft.com/office/drawing/2014/main" id="{78674F34-8DB9-4E02-A355-86741FC32CF3}"/>
              </a:ext>
            </a:extLst>
          </p:cNvPr>
          <p:cNvSpPr/>
          <p:nvPr/>
        </p:nvSpPr>
        <p:spPr>
          <a:xfrm flipV="1">
            <a:off x="7147931" y="2141031"/>
            <a:ext cx="2074127" cy="612647"/>
          </a:xfrm>
          <a:prstGeom prst="bent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: вниз 22">
            <a:extLst>
              <a:ext uri="{FF2B5EF4-FFF2-40B4-BE49-F238E27FC236}">
                <a16:creationId xmlns:a16="http://schemas.microsoft.com/office/drawing/2014/main" id="{19127D27-47B9-4957-ABBF-6CEB3A290CAE}"/>
              </a:ext>
            </a:extLst>
          </p:cNvPr>
          <p:cNvSpPr/>
          <p:nvPr/>
        </p:nvSpPr>
        <p:spPr>
          <a:xfrm>
            <a:off x="2372887" y="3470511"/>
            <a:ext cx="334536" cy="483856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: вниз 23">
            <a:extLst>
              <a:ext uri="{FF2B5EF4-FFF2-40B4-BE49-F238E27FC236}">
                <a16:creationId xmlns:a16="http://schemas.microsoft.com/office/drawing/2014/main" id="{610A3FCC-4AB1-409B-9BDC-C319A9723C8E}"/>
              </a:ext>
            </a:extLst>
          </p:cNvPr>
          <p:cNvSpPr/>
          <p:nvPr/>
        </p:nvSpPr>
        <p:spPr>
          <a:xfrm>
            <a:off x="8913082" y="3413788"/>
            <a:ext cx="344294" cy="483856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: вниз 24">
            <a:extLst>
              <a:ext uri="{FF2B5EF4-FFF2-40B4-BE49-F238E27FC236}">
                <a16:creationId xmlns:a16="http://schemas.microsoft.com/office/drawing/2014/main" id="{834C97AE-42D3-4796-998C-A1017FEE7874}"/>
              </a:ext>
            </a:extLst>
          </p:cNvPr>
          <p:cNvSpPr/>
          <p:nvPr/>
        </p:nvSpPr>
        <p:spPr>
          <a:xfrm>
            <a:off x="2372887" y="4567015"/>
            <a:ext cx="334536" cy="5161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Стрелка: вниз 25">
            <a:extLst>
              <a:ext uri="{FF2B5EF4-FFF2-40B4-BE49-F238E27FC236}">
                <a16:creationId xmlns:a16="http://schemas.microsoft.com/office/drawing/2014/main" id="{11AB5ADF-FAE2-47C5-B8E8-E965F4DCA8A3}"/>
              </a:ext>
            </a:extLst>
          </p:cNvPr>
          <p:cNvSpPr/>
          <p:nvPr/>
        </p:nvSpPr>
        <p:spPr>
          <a:xfrm>
            <a:off x="8913082" y="4552101"/>
            <a:ext cx="334536" cy="51610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00405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10DEE3-6FA1-4966-84D0-E18323620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746" y="365126"/>
            <a:ext cx="10930054" cy="816904"/>
          </a:xfrm>
        </p:spPr>
        <p:txBody>
          <a:bodyPr>
            <a:noAutofit/>
          </a:bodyPr>
          <a:lstStyle/>
          <a:p>
            <a:pPr algn="ctr"/>
            <a:r>
              <a:rPr lang="ru-RU" sz="6000" b="1" dirty="0">
                <a:latin typeface="-apple-system"/>
              </a:rPr>
              <a:t>ДИАГРАММА ПОТОКА ДАННЫХ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1CAF42F7-E659-43F0-920E-10B77746E902}"/>
              </a:ext>
            </a:extLst>
          </p:cNvPr>
          <p:cNvSpPr/>
          <p:nvPr/>
        </p:nvSpPr>
        <p:spPr>
          <a:xfrm>
            <a:off x="288304" y="1650380"/>
            <a:ext cx="2150792" cy="298295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ru-RU" sz="2000" b="1" dirty="0">
                <a:solidFill>
                  <a:schemeClr val="bg1"/>
                </a:solidFill>
              </a:rPr>
              <a:t>Пользователь</a:t>
            </a: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Открывает сайт</a:t>
            </a: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Видит панель</a:t>
            </a: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Выбирает действие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7DADA2F5-5D84-4F5E-9F3B-7B326E31B40F}"/>
              </a:ext>
            </a:extLst>
          </p:cNvPr>
          <p:cNvSpPr/>
          <p:nvPr/>
        </p:nvSpPr>
        <p:spPr>
          <a:xfrm>
            <a:off x="3143016" y="1650380"/>
            <a:ext cx="2150792" cy="298295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ru-RU" sz="2000" b="1" dirty="0">
                <a:solidFill>
                  <a:schemeClr val="bg1"/>
                </a:solidFill>
              </a:rPr>
              <a:t>Браузер</a:t>
            </a: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Рендерит </a:t>
            </a:r>
            <a:r>
              <a:rPr lang="en-US" sz="1400" dirty="0">
                <a:solidFill>
                  <a:schemeClr val="bg1"/>
                </a:solidFill>
              </a:rPr>
              <a:t>HTML</a:t>
            </a: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Выполняет </a:t>
            </a:r>
            <a:r>
              <a:rPr lang="en-US" sz="1400" dirty="0">
                <a:solidFill>
                  <a:schemeClr val="bg1"/>
                </a:solidFill>
              </a:rPr>
              <a:t>JavaScript</a:t>
            </a:r>
            <a:endParaRPr lang="ru-RU" sz="1400" dirty="0">
              <a:solidFill>
                <a:schemeClr val="bg1"/>
              </a:solidFill>
            </a:endParaRPr>
          </a:p>
          <a:p>
            <a:pPr algn="ctr">
              <a:lnSpc>
                <a:spcPct val="250000"/>
              </a:lnSpc>
            </a:pPr>
            <a:r>
              <a:rPr lang="ru-RU" sz="1400" dirty="0">
                <a:solidFill>
                  <a:schemeClr val="bg1"/>
                </a:solidFill>
              </a:rPr>
              <a:t>Отрабатывает запрос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8BC703A-7999-4317-8BB2-9EA053FDA504}"/>
              </a:ext>
            </a:extLst>
          </p:cNvPr>
          <p:cNvSpPr/>
          <p:nvPr/>
        </p:nvSpPr>
        <p:spPr>
          <a:xfrm>
            <a:off x="6184278" y="1650380"/>
            <a:ext cx="2327818" cy="298295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r>
              <a:rPr lang="en-US" sz="2000" b="1" dirty="0">
                <a:solidFill>
                  <a:schemeClr val="bg1"/>
                </a:solidFill>
              </a:rPr>
              <a:t>Django</a:t>
            </a:r>
          </a:p>
          <a:p>
            <a:pPr algn="ctr"/>
            <a:r>
              <a:rPr lang="en-US" sz="1600" b="1" dirty="0">
                <a:solidFill>
                  <a:schemeClr val="bg1"/>
                </a:solidFill>
              </a:rPr>
              <a:t>urls.py</a:t>
            </a:r>
          </a:p>
          <a:p>
            <a:pPr algn="ctr"/>
            <a:r>
              <a:rPr lang="ru-RU" sz="1200" dirty="0">
                <a:solidFill>
                  <a:schemeClr val="bg1"/>
                </a:solidFill>
              </a:rPr>
              <a:t>Маршрутизация</a:t>
            </a:r>
            <a:endParaRPr lang="en-US" sz="1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</a:rPr>
              <a:t>views.py</a:t>
            </a:r>
          </a:p>
          <a:p>
            <a:pPr algn="ctr"/>
            <a:r>
              <a:rPr lang="ru-RU" sz="1200" dirty="0">
                <a:solidFill>
                  <a:schemeClr val="bg1"/>
                </a:solidFill>
              </a:rPr>
              <a:t>Отработка</a:t>
            </a:r>
          </a:p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</a:rPr>
              <a:t>models.py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ORM-</a:t>
            </a:r>
            <a:r>
              <a:rPr lang="ru-RU" sz="1200" dirty="0">
                <a:solidFill>
                  <a:schemeClr val="bg1"/>
                </a:solidFill>
              </a:rPr>
              <a:t>запрос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8D5E7D92-92EE-43E5-8106-D864B1C12500}"/>
              </a:ext>
            </a:extLst>
          </p:cNvPr>
          <p:cNvSpPr/>
          <p:nvPr/>
        </p:nvSpPr>
        <p:spPr>
          <a:xfrm>
            <a:off x="9545444" y="5062654"/>
            <a:ext cx="2456984" cy="1706136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media/panels/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изображения</a:t>
            </a:r>
          </a:p>
        </p:txBody>
      </p:sp>
      <p:sp>
        <p:nvSpPr>
          <p:cNvPr id="8" name="Блок-схема: магнитный диск 7">
            <a:extLst>
              <a:ext uri="{FF2B5EF4-FFF2-40B4-BE49-F238E27FC236}">
                <a16:creationId xmlns:a16="http://schemas.microsoft.com/office/drawing/2014/main" id="{C94D0600-F0AD-4D9D-A4D9-C5FF48B67631}"/>
              </a:ext>
            </a:extLst>
          </p:cNvPr>
          <p:cNvSpPr/>
          <p:nvPr/>
        </p:nvSpPr>
        <p:spPr>
          <a:xfrm>
            <a:off x="9545444" y="1494264"/>
            <a:ext cx="2542478" cy="3139068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chemeClr val="bg1"/>
                </a:solidFill>
              </a:rPr>
              <a:t>PostgreSQL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Хранит панели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Хранит выборы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Связывает </a:t>
            </a:r>
            <a:r>
              <a:rPr lang="en-US" dirty="0">
                <a:solidFill>
                  <a:schemeClr val="bg1"/>
                </a:solidFill>
              </a:rPr>
              <a:t>Panel-Choice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076478E3-4924-4EF6-A0B4-C2B6DCE3C522}"/>
              </a:ext>
            </a:extLst>
          </p:cNvPr>
          <p:cNvSpPr/>
          <p:nvPr/>
        </p:nvSpPr>
        <p:spPr>
          <a:xfrm>
            <a:off x="2439096" y="2308302"/>
            <a:ext cx="703920" cy="5129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клик</a:t>
            </a:r>
          </a:p>
        </p:txBody>
      </p:sp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7D40CF35-8309-4CEE-B961-DD6F0857731A}"/>
              </a:ext>
            </a:extLst>
          </p:cNvPr>
          <p:cNvSpPr/>
          <p:nvPr/>
        </p:nvSpPr>
        <p:spPr>
          <a:xfrm>
            <a:off x="5303802" y="2341756"/>
            <a:ext cx="880475" cy="6021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http get/post</a:t>
            </a:r>
            <a:endParaRPr lang="ru-RU" sz="1000" b="1" dirty="0">
              <a:solidFill>
                <a:schemeClr val="tx1"/>
              </a:solidFill>
            </a:endParaRPr>
          </a:p>
        </p:txBody>
      </p:sp>
      <p:sp>
        <p:nvSpPr>
          <p:cNvPr id="13" name="Стрелка: вправо 12">
            <a:extLst>
              <a:ext uri="{FF2B5EF4-FFF2-40B4-BE49-F238E27FC236}">
                <a16:creationId xmlns:a16="http://schemas.microsoft.com/office/drawing/2014/main" id="{0AF0F0DC-7284-4FBD-AB3B-A913C851C76D}"/>
              </a:ext>
            </a:extLst>
          </p:cNvPr>
          <p:cNvSpPr/>
          <p:nvPr/>
        </p:nvSpPr>
        <p:spPr>
          <a:xfrm>
            <a:off x="8512096" y="2341756"/>
            <a:ext cx="1033348" cy="6021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solidFill>
                  <a:schemeClr val="tx1"/>
                </a:solidFill>
              </a:rPr>
              <a:t>sql</a:t>
            </a:r>
            <a:endParaRPr lang="ru-RU" sz="2000" b="1" dirty="0">
              <a:solidFill>
                <a:schemeClr val="tx1"/>
              </a:solidFill>
            </a:endParaRPr>
          </a:p>
        </p:txBody>
      </p:sp>
      <p:sp>
        <p:nvSpPr>
          <p:cNvPr id="15" name="Стрелка: вниз 14">
            <a:extLst>
              <a:ext uri="{FF2B5EF4-FFF2-40B4-BE49-F238E27FC236}">
                <a16:creationId xmlns:a16="http://schemas.microsoft.com/office/drawing/2014/main" id="{E47FC950-1C8D-4A57-A184-8A8FECA3D955}"/>
              </a:ext>
            </a:extLst>
          </p:cNvPr>
          <p:cNvSpPr/>
          <p:nvPr/>
        </p:nvSpPr>
        <p:spPr>
          <a:xfrm>
            <a:off x="10281424" y="4633332"/>
            <a:ext cx="1159727" cy="50459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загрузка</a:t>
            </a:r>
          </a:p>
        </p:txBody>
      </p:sp>
      <p:sp>
        <p:nvSpPr>
          <p:cNvPr id="16" name="Стрелка: влево 15">
            <a:extLst>
              <a:ext uri="{FF2B5EF4-FFF2-40B4-BE49-F238E27FC236}">
                <a16:creationId xmlns:a16="http://schemas.microsoft.com/office/drawing/2014/main" id="{42CEA408-481F-43B5-818D-6C15BE92942C}"/>
              </a:ext>
            </a:extLst>
          </p:cNvPr>
          <p:cNvSpPr/>
          <p:nvPr/>
        </p:nvSpPr>
        <p:spPr>
          <a:xfrm>
            <a:off x="2352908" y="3757961"/>
            <a:ext cx="790108" cy="512957"/>
          </a:xfrm>
          <a:prstGeom prst="lef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000" b="1" dirty="0">
                <a:solidFill>
                  <a:srgbClr val="FF0000"/>
                </a:solidFill>
              </a:rPr>
              <a:t>отображение</a:t>
            </a:r>
          </a:p>
        </p:txBody>
      </p:sp>
      <p:sp>
        <p:nvSpPr>
          <p:cNvPr id="17" name="Стрелка: влево 16">
            <a:extLst>
              <a:ext uri="{FF2B5EF4-FFF2-40B4-BE49-F238E27FC236}">
                <a16:creationId xmlns:a16="http://schemas.microsoft.com/office/drawing/2014/main" id="{E4E0B738-964B-4880-88F7-18FEBE80BCD2}"/>
              </a:ext>
            </a:extLst>
          </p:cNvPr>
          <p:cNvSpPr/>
          <p:nvPr/>
        </p:nvSpPr>
        <p:spPr>
          <a:xfrm>
            <a:off x="5278245" y="3757960"/>
            <a:ext cx="906031" cy="512958"/>
          </a:xfrm>
          <a:prstGeom prst="lef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8" name="Стрелка: влево 17">
            <a:extLst>
              <a:ext uri="{FF2B5EF4-FFF2-40B4-BE49-F238E27FC236}">
                <a16:creationId xmlns:a16="http://schemas.microsoft.com/office/drawing/2014/main" id="{138EBD98-13A8-4483-B00B-A667F41C6AD3}"/>
              </a:ext>
            </a:extLst>
          </p:cNvPr>
          <p:cNvSpPr/>
          <p:nvPr/>
        </p:nvSpPr>
        <p:spPr>
          <a:xfrm>
            <a:off x="8512096" y="3757961"/>
            <a:ext cx="1033348" cy="602166"/>
          </a:xfrm>
          <a:prstGeom prst="lef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>
                <a:solidFill>
                  <a:srgbClr val="FF0000"/>
                </a:solidFill>
              </a:rPr>
              <a:t>данные</a:t>
            </a:r>
          </a:p>
        </p:txBody>
      </p:sp>
    </p:spTree>
    <p:extLst>
      <p:ext uri="{BB962C8B-B14F-4D97-AF65-F5344CB8AC3E}">
        <p14:creationId xmlns:p14="http://schemas.microsoft.com/office/powerpoint/2010/main" val="4150403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review">
            <a:extLst>
              <a:ext uri="{FF2B5EF4-FFF2-40B4-BE49-F238E27FC236}">
                <a16:creationId xmlns:a16="http://schemas.microsoft.com/office/drawing/2014/main" id="{6A5A9611-43AA-4CD1-8CD4-1EF84BC33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288" y="0"/>
            <a:ext cx="108918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403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209AA76-D87D-47EA-94A0-E2DF231D1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579863"/>
            <a:ext cx="5157787" cy="981308"/>
          </a:xfrm>
        </p:spPr>
        <p:txBody>
          <a:bodyPr>
            <a:normAutofit/>
          </a:bodyPr>
          <a:lstStyle/>
          <a:p>
            <a:r>
              <a:rPr lang="ru-RU" sz="4800" dirty="0"/>
              <a:t>ПРЕИМУЩЕСТВА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9DE85FA-2524-4069-8E51-453A1C1167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06859"/>
            <a:ext cx="5157787" cy="4282804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Интерактивность</a:t>
            </a:r>
            <a:r>
              <a:rPr lang="ru-RU" b="1" dirty="0"/>
              <a:t> - превращает пассивное чтение в активный опыт</a:t>
            </a:r>
          </a:p>
          <a:p>
            <a:r>
              <a:rPr lang="ru-RU" b="1" dirty="0">
                <a:solidFill>
                  <a:srgbClr val="FF0000"/>
                </a:solidFill>
              </a:rPr>
              <a:t>Доступность</a:t>
            </a:r>
            <a:r>
              <a:rPr lang="ru-RU" b="1" dirty="0"/>
              <a:t> - работает в любом браузере без установки</a:t>
            </a:r>
          </a:p>
          <a:p>
            <a:r>
              <a:rPr lang="ru-RU" b="1" dirty="0">
                <a:solidFill>
                  <a:srgbClr val="FF0000"/>
                </a:solidFill>
              </a:rPr>
              <a:t>Гибкость</a:t>
            </a:r>
            <a:r>
              <a:rPr lang="ru-RU" b="1" dirty="0"/>
              <a:t> - легко добавлять новые панели и ветки сюжета</a:t>
            </a:r>
          </a:p>
          <a:p>
            <a:r>
              <a:rPr lang="ru-RU" b="1" dirty="0">
                <a:solidFill>
                  <a:srgbClr val="FF0000"/>
                </a:solidFill>
              </a:rPr>
              <a:t>Удобство</a:t>
            </a:r>
            <a:r>
              <a:rPr lang="en-US" b="1" dirty="0"/>
              <a:t> </a:t>
            </a:r>
            <a:r>
              <a:rPr lang="ru-RU" b="1" dirty="0"/>
              <a:t>- админ-панель для управления контентом без </a:t>
            </a:r>
            <a:r>
              <a:rPr lang="ru-RU" dirty="0"/>
              <a:t>кода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14D5E1-B73E-4915-8B58-9B5F403A8A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579863"/>
            <a:ext cx="5183188" cy="981308"/>
          </a:xfrm>
        </p:spPr>
        <p:txBody>
          <a:bodyPr>
            <a:normAutofit/>
          </a:bodyPr>
          <a:lstStyle/>
          <a:p>
            <a:r>
              <a:rPr lang="ru-RU" sz="4800" dirty="0">
                <a:solidFill>
                  <a:srgbClr val="FF0000"/>
                </a:solidFill>
              </a:rPr>
              <a:t>ВЫЗОВЫ И РИСКИ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6CBF2F-EA02-4F4A-8CE1-2898A16BD6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06859"/>
            <a:ext cx="5183188" cy="4282804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Сложность контента </a:t>
            </a:r>
            <a:r>
              <a:rPr lang="ru-RU" b="1" dirty="0"/>
              <a:t>- ручной ввод и связей всех панелей – трудоёмко</a:t>
            </a:r>
          </a:p>
          <a:p>
            <a:r>
              <a:rPr lang="ru-RU" b="1" dirty="0">
                <a:solidFill>
                  <a:srgbClr val="FF0000"/>
                </a:solidFill>
              </a:rPr>
              <a:t>Медиа-зависимость</a:t>
            </a:r>
            <a:r>
              <a:rPr lang="ru-RU" b="1" dirty="0"/>
              <a:t> - большой объём изображений требует хранилища</a:t>
            </a:r>
          </a:p>
          <a:p>
            <a:r>
              <a:rPr lang="ru-RU" b="1" dirty="0">
                <a:solidFill>
                  <a:srgbClr val="FF0000"/>
                </a:solidFill>
              </a:rPr>
              <a:t>Масштабируемость</a:t>
            </a:r>
            <a:r>
              <a:rPr lang="ru-RU" b="1" dirty="0"/>
              <a:t> - при глубоком ответвлении сложно отслеживать логику</a:t>
            </a:r>
          </a:p>
          <a:p>
            <a:r>
              <a:rPr lang="ru-RU" b="1" dirty="0">
                <a:solidFill>
                  <a:srgbClr val="FF0000"/>
                </a:solidFill>
              </a:rPr>
              <a:t>Адаптивность</a:t>
            </a:r>
            <a:r>
              <a:rPr lang="ru-RU" b="1" dirty="0"/>
              <a:t> - нужна оптимизация под мобильные устройства</a:t>
            </a:r>
          </a:p>
          <a:p>
            <a:r>
              <a:rPr lang="ru-RU" b="1" dirty="0">
                <a:solidFill>
                  <a:srgbClr val="FF0000"/>
                </a:solidFill>
              </a:rPr>
              <a:t>Безопасность</a:t>
            </a:r>
            <a:r>
              <a:rPr lang="ru-RU" b="1" dirty="0"/>
              <a:t> - защита от несанкционированного доступа к админ-панели</a:t>
            </a:r>
          </a:p>
        </p:txBody>
      </p:sp>
    </p:spTree>
    <p:extLst>
      <p:ext uri="{BB962C8B-B14F-4D97-AF65-F5344CB8AC3E}">
        <p14:creationId xmlns:p14="http://schemas.microsoft.com/office/powerpoint/2010/main" val="255320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B85E24C9-8D85-4DD9-9535-6BB86D0C2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88" y="479503"/>
            <a:ext cx="4257984" cy="981307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ВОЗМОЖНЫЕ УЛУЧШЕНИЯ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CDF791C-3A7A-4309-8AD4-A5B39024ED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773044"/>
            <a:ext cx="5157787" cy="4416619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Анимация переходов</a:t>
            </a:r>
            <a:r>
              <a:rPr lang="ru-RU" b="1" dirty="0"/>
              <a:t> между панелями для погружения</a:t>
            </a:r>
          </a:p>
          <a:p>
            <a:r>
              <a:rPr lang="ru-RU" b="1" dirty="0">
                <a:solidFill>
                  <a:srgbClr val="FF0000"/>
                </a:solidFill>
              </a:rPr>
              <a:t>Сохранение прогресса </a:t>
            </a:r>
            <a:r>
              <a:rPr lang="ru-RU" b="1" dirty="0"/>
              <a:t>профилей пользователей с историей выборов</a:t>
            </a:r>
          </a:p>
          <a:p>
            <a:r>
              <a:rPr lang="ru-RU" b="1" dirty="0">
                <a:solidFill>
                  <a:srgbClr val="FF0000"/>
                </a:solidFill>
              </a:rPr>
              <a:t>Аналитика </a:t>
            </a:r>
            <a:r>
              <a:rPr lang="ru-RU" b="1" dirty="0"/>
              <a:t>- сбор статистики по популярным веткам сюжета</a:t>
            </a:r>
          </a:p>
          <a:p>
            <a:r>
              <a:rPr lang="ru-RU" b="1" dirty="0" err="1">
                <a:solidFill>
                  <a:srgbClr val="FF0000"/>
                </a:solidFill>
              </a:rPr>
              <a:t>Мультиязычность</a:t>
            </a:r>
            <a:r>
              <a:rPr lang="ru-RU" b="1" dirty="0">
                <a:solidFill>
                  <a:srgbClr val="FF0000"/>
                </a:solidFill>
              </a:rPr>
              <a:t> </a:t>
            </a:r>
            <a:r>
              <a:rPr lang="ru-RU" b="1" dirty="0"/>
              <a:t>-поддержка переводов на разные языки</a:t>
            </a:r>
          </a:p>
          <a:p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800C851-B157-4785-97F5-6F7FB4833B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479503"/>
            <a:ext cx="4945566" cy="858643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solidFill>
                  <a:srgbClr val="FF0000"/>
                </a:solidFill>
              </a:rPr>
              <a:t>ЗАКЛЮЧЕНИЕ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FC3DE2-A6F3-408A-8DA6-3CA502C0FA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773044"/>
            <a:ext cx="5183188" cy="4605453"/>
          </a:xfrm>
        </p:spPr>
        <p:txBody>
          <a:bodyPr>
            <a:noAutofit/>
          </a:bodyPr>
          <a:lstStyle/>
          <a:p>
            <a:r>
              <a:rPr lang="ru-RU" b="1" dirty="0"/>
              <a:t>Проект успешно решает задачу адаптации комикса-игры в цифровой формат</a:t>
            </a:r>
          </a:p>
          <a:p>
            <a:r>
              <a:rPr lang="ru-RU" b="1" dirty="0"/>
              <a:t>Архитектура на </a:t>
            </a:r>
            <a:r>
              <a:rPr lang="en-US" b="1" dirty="0"/>
              <a:t>Django</a:t>
            </a:r>
            <a:r>
              <a:rPr lang="ru-RU" b="1" dirty="0"/>
              <a:t> обеспечивает надёжность и масштабируемость</a:t>
            </a:r>
          </a:p>
          <a:p>
            <a:r>
              <a:rPr lang="ru-RU" b="1" dirty="0"/>
              <a:t>Модель </a:t>
            </a:r>
            <a:r>
              <a:rPr lang="en-US" b="1" dirty="0"/>
              <a:t>Panel -&gt; Choice </a:t>
            </a:r>
            <a:r>
              <a:rPr lang="ru-RU" b="1" dirty="0"/>
              <a:t>создаёт гибкую систему ветвления сюжета</a:t>
            </a:r>
          </a:p>
          <a:p>
            <a:r>
              <a:rPr lang="ru-RU" b="1" dirty="0"/>
              <a:t>Есть значительный потенциал для расширения функционала</a:t>
            </a:r>
          </a:p>
        </p:txBody>
      </p:sp>
    </p:spTree>
    <p:extLst>
      <p:ext uri="{BB962C8B-B14F-4D97-AF65-F5344CB8AC3E}">
        <p14:creationId xmlns:p14="http://schemas.microsoft.com/office/powerpoint/2010/main" val="2721189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ветящийся край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508</TotalTime>
  <Words>297</Words>
  <Application>Microsoft Office PowerPoint</Application>
  <PresentationFormat>Широкоэкранный</PresentationFormat>
  <Paragraphs>75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-apple-system</vt:lpstr>
      <vt:lpstr>Arial</vt:lpstr>
      <vt:lpstr>Calibri</vt:lpstr>
      <vt:lpstr>Calibri Light</vt:lpstr>
      <vt:lpstr>inherit</vt:lpstr>
      <vt:lpstr>Office Theme</vt:lpstr>
      <vt:lpstr>ZOMBIE COMIC Интерактивный веб-комикс</vt:lpstr>
      <vt:lpstr>Презентация PowerPoint</vt:lpstr>
      <vt:lpstr>Технологический стек</vt:lpstr>
      <vt:lpstr>Пользовательский путь</vt:lpstr>
      <vt:lpstr>ДИАГРАММА ПОТОКА ДАННЫХ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ZOMBIE COMIC Интерактивный веб-комикс</dc:title>
  <dc:creator>админ</dc:creator>
  <cp:lastModifiedBy>админ</cp:lastModifiedBy>
  <cp:revision>4</cp:revision>
  <dcterms:created xsi:type="dcterms:W3CDTF">2026-04-24T11:20:51Z</dcterms:created>
  <dcterms:modified xsi:type="dcterms:W3CDTF">2026-04-24T22:17:00Z</dcterms:modified>
</cp:coreProperties>
</file>